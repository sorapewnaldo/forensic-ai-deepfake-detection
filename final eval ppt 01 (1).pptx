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4" r:id="rId5"/>
    <p:sldId id="274" r:id="rId6"/>
    <p:sldId id="265" r:id="rId7"/>
    <p:sldId id="266" r:id="rId8"/>
    <p:sldId id="276" r:id="rId9"/>
    <p:sldId id="271" r:id="rId10"/>
    <p:sldId id="278" r:id="rId11"/>
    <p:sldId id="279" r:id="rId12"/>
    <p:sldId id="280" r:id="rId13"/>
    <p:sldId id="281" r:id="rId14"/>
    <p:sldId id="284" r:id="rId15"/>
    <p:sldId id="259" r:id="rId16"/>
    <p:sldId id="263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AB1B0E-2453-F552-5276-A5F51A747FCB}" name="Navya Syal" initials="NS" userId="048b3c3ff2347983" providerId="Windows Live"/>
  <p188:author id="{1A2DD1AB-04D9-A994-92E0-4030BD035AD8}" name="Aakhya Chhauhan" initials="AC" userId="d2287d8c65d05547" providerId="Windows Live"/>
  <p188:author id="{B2114EC5-BD16-1468-7824-16CD3255C550}" name="Sora D" initials="SD" userId="bd5057b2606288a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40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ED836-054B-4B23-93FE-7434A57EDEE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CD96A-71B4-44BE-8616-84F9ADF24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CD96A-71B4-44BE-8616-84F9ADF242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7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CD96A-71B4-44BE-8616-84F9ADF242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19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E4BC-E1D6-1921-8508-67FE9727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8CD28-2E70-E837-2881-AE79264F2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45AF6-420D-A475-4FD0-C0489D918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061F8-90BF-151A-B810-0002DE0A8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CD96A-71B4-44BE-8616-84F9ADF242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29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1546-2301-6A94-DD1F-97FE6BFC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5B3D5-203B-D62B-190D-82C5CCF56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7FFF3-78E9-CD2A-4257-5EE7E7073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CA2AA-8E7C-93B7-5A4F-0A554FB32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CD96A-71B4-44BE-8616-84F9ADF242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4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657D-0A8C-16BA-5046-6E4B43A30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A205F-DCB5-4E74-55AC-9AAA84F80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47F21-520D-A10D-9944-3AA90580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4D421-22BB-4A89-926C-283FC2A360B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F4D0F-FFA2-E08D-3BA1-F4A5FBF7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B25F2-AD2E-E538-5F56-6BF0F1AC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6F1B-4E42-BA99-38FC-48DE9463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AC993-38CD-3AFB-7C41-5C58B98C2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1589D-3B5A-919A-65A7-38E24A54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2C0B-D9EA-4DF5-8690-C5D3CA7934BE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44729-7084-361D-F571-52B6F098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2C82E-1149-CB1B-36F3-503A839C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5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6134-C5DB-A2F7-D397-9A1EC5BA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01612-2EA5-383B-CEA9-6AEB4D6D9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19720-2498-A302-ED11-8B867E19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958D-F80C-487D-BE77-BF17D3CEE839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FFAF1-D7B3-3096-1A65-A7E87B3E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16E8-8612-FCEF-594B-AD10DB9C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F3C5-E4BB-B3D3-EA1A-FFF2FAF2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14D9-C283-AC81-F203-93EC6AC2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F13AB-9853-E02C-DF83-8E12C0EB3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748E3-C5FB-72D7-AB56-47F63A82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C66A6-5D48-4BDE-BC18-6AD231498309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F88F0-06F3-24BD-2F38-C1CFCABD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E3F68-B04F-4358-1A38-39B151D7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2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31538-3F43-3AEC-88E3-0255759F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05F23-F21E-0DE7-25D7-17BFD0A52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65256-0021-3F0A-A8F0-67A7490A8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0FA60-9D51-1636-9DF9-A0BA89EAA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A16BE-8540-1E15-9DAE-643BABDEA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EF122-ADB4-8C04-784C-AE1303D0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5586-306C-4FC7-AA58-0BBB0319009B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43BCE-DCD8-3874-1A4D-877FF05A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10169-0934-B3D7-EFB6-5534CA9A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7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EFC4-2D52-A87F-9026-92B6D9D6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C3B7B-BE82-4EED-6308-C6CDAD50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C47D-02AC-4725-B00E-9938FDBF2D81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A1851-5725-A7F2-2381-8B193016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83148-544F-24DB-6869-008F548E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8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E27012-A558-9DED-2380-4DAE8327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103C-52BB-4439-8F23-D57C4439B28B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6122E-7A14-5E81-4ED3-2DEBEC4F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5AEDB-23FA-1C9A-A3E3-8B5BC26E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7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8FBD-E3DE-508C-7E4D-39CDF858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FB9E3-2015-23B6-5299-04C62478B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E5BE7-121B-0109-8151-3C92B669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16D34-62D1-546D-801C-0CBFE878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088A-1295-46E1-9E8F-4085D1C79011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5F679-A256-D223-95C9-4644C29E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7B479-AD32-6DDD-4C6C-A3BDFA3A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0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95C3-859B-1381-112B-E99E2E23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E1022-82A3-7AFF-BB33-C1D39CAB2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816A1-EFA3-9F0B-1ED9-D342AE47A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33378-C439-26DE-8CB5-E64AB16A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7D78E-BBFE-4E1A-9ACE-865F0BED2BE7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27FF-8250-BE4B-26FB-AEC41063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C3FB5-59FD-853A-EE4D-8D017517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4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00E4-33F2-AE7F-D365-0FD1B10A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1CE3C-B830-72CD-558C-BEDA8BBDD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6EEFC-6A39-1091-CEE4-EEC455AE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9146-5448-45B7-BBB0-D301133F4CC3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E66E-B824-445A-585A-3E139F4CF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21024-1C43-C4BA-A5AF-C45D7BC9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6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6C5066-B416-C12E-1A13-8FD000F20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BE0D1-99AC-4DB0-BF28-44033E003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899B-A28A-C76F-E457-59E1D56B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5A05C-FBE0-4516-A934-78E10A24A4C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A251-4EC5-C22F-8ABC-94CE09DF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AB033-23E2-5B44-FFC6-6180CEF5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0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4D75A-42E9-96BA-047D-9959EF960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B1C1C-CF44-ADCC-4A64-3C95C0522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A2EF9-CCE4-29E8-8AA1-BD6D37901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28628-1FEA-496B-864E-79845BFE62E8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73693-EE27-D570-6327-400A15180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70C02-D635-7A69-EE50-50AF43F24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4F7F4-7DD8-4E66-8958-06920FBD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0756-FF7F-370E-C49A-D1CEB5D9C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71437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NU302 R&amp;D Project</a:t>
            </a:r>
            <a:br>
              <a:rPr lang="en-US" sz="3600" dirty="0">
                <a:solidFill>
                  <a:srgbClr val="C00000"/>
                </a:solidFill>
              </a:rPr>
            </a:b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FORENSIC-AI: An Intelligent Deepfake </a:t>
            </a:r>
            <a:r>
              <a:rPr lang="en-US" sz="3600" b="1" dirty="0">
                <a:solidFill>
                  <a:srgbClr val="C00000"/>
                </a:solidFill>
              </a:rPr>
              <a:t>Video</a:t>
            </a:r>
            <a:r>
              <a:rPr lang="en-US" sz="3600" dirty="0">
                <a:solidFill>
                  <a:srgbClr val="C00000"/>
                </a:solidFill>
              </a:rPr>
              <a:t> Detection for Digital Evidences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2BEF0-558C-3440-7FC6-41A9EB541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1445"/>
            <a:ext cx="9144000" cy="3001107"/>
          </a:xfrm>
        </p:spPr>
        <p:txBody>
          <a:bodyPr>
            <a:normAutofit fontScale="25000" lnSpcReduction="20000"/>
          </a:bodyPr>
          <a:lstStyle/>
          <a:p>
            <a:r>
              <a:rPr lang="en-US" sz="6400" dirty="0">
                <a:solidFill>
                  <a:srgbClr val="C00000"/>
                </a:solidFill>
              </a:rPr>
              <a:t>Sem II AY2025-26</a:t>
            </a:r>
          </a:p>
          <a:p>
            <a:endParaRPr lang="en-US" sz="6400" dirty="0">
              <a:solidFill>
                <a:srgbClr val="C00000"/>
              </a:solidFill>
            </a:endParaRPr>
          </a:p>
          <a:p>
            <a:r>
              <a:rPr lang="en-US" sz="6400" dirty="0">
                <a:solidFill>
                  <a:srgbClr val="C00000"/>
                </a:solidFill>
              </a:rPr>
              <a:t>Supervised by:</a:t>
            </a:r>
          </a:p>
          <a:p>
            <a:r>
              <a:rPr lang="en-US" sz="6400" dirty="0">
                <a:solidFill>
                  <a:srgbClr val="C00000"/>
                </a:solidFill>
              </a:rPr>
              <a:t>Dr. Anand Kumar Mishra</a:t>
            </a:r>
          </a:p>
          <a:p>
            <a:r>
              <a:rPr lang="en-US" sz="6400" dirty="0">
                <a:solidFill>
                  <a:srgbClr val="C00000"/>
                </a:solidFill>
              </a:rPr>
              <a:t>Dr. Sachin Dube </a:t>
            </a:r>
          </a:p>
          <a:p>
            <a:endParaRPr lang="en-US" sz="6400" dirty="0">
              <a:solidFill>
                <a:srgbClr val="C00000"/>
              </a:solidFill>
            </a:endParaRPr>
          </a:p>
          <a:p>
            <a:r>
              <a:rPr lang="en-US" sz="6400" dirty="0">
                <a:solidFill>
                  <a:srgbClr val="C00000"/>
                </a:solidFill>
              </a:rPr>
              <a:t>By:</a:t>
            </a:r>
          </a:p>
          <a:p>
            <a:r>
              <a:rPr lang="en-US" sz="6400" dirty="0">
                <a:solidFill>
                  <a:srgbClr val="C00000"/>
                </a:solidFill>
              </a:rPr>
              <a:t>Ayush </a:t>
            </a:r>
            <a:r>
              <a:rPr lang="en-US" sz="6400" dirty="0" err="1">
                <a:solidFill>
                  <a:srgbClr val="C00000"/>
                </a:solidFill>
              </a:rPr>
              <a:t>Dakwal</a:t>
            </a:r>
            <a:r>
              <a:rPr lang="en-US" sz="6400" dirty="0">
                <a:solidFill>
                  <a:srgbClr val="C00000"/>
                </a:solidFill>
              </a:rPr>
              <a:t> (BT23GCS152)</a:t>
            </a:r>
          </a:p>
          <a:p>
            <a:r>
              <a:rPr lang="en-US" sz="6400" dirty="0">
                <a:solidFill>
                  <a:srgbClr val="C00000"/>
                </a:solidFill>
              </a:rPr>
              <a:t>Aakhya </a:t>
            </a:r>
            <a:r>
              <a:rPr lang="en-US" sz="6400" dirty="0" err="1">
                <a:solidFill>
                  <a:srgbClr val="C00000"/>
                </a:solidFill>
              </a:rPr>
              <a:t>Chhauhan</a:t>
            </a:r>
            <a:r>
              <a:rPr lang="en-US" sz="6400" dirty="0">
                <a:solidFill>
                  <a:srgbClr val="C00000"/>
                </a:solidFill>
              </a:rPr>
              <a:t> (BT23GCS214)</a:t>
            </a:r>
          </a:p>
          <a:p>
            <a:r>
              <a:rPr lang="en-US" sz="6400" dirty="0">
                <a:solidFill>
                  <a:srgbClr val="C00000"/>
                </a:solidFill>
              </a:rPr>
              <a:t>Navya Syal (BT23GCY159)</a:t>
            </a:r>
          </a:p>
          <a:p>
            <a:r>
              <a:rPr lang="en-US" sz="6400" dirty="0" err="1">
                <a:solidFill>
                  <a:srgbClr val="C00000"/>
                </a:solidFill>
              </a:rPr>
              <a:t>Kandunuri</a:t>
            </a:r>
            <a:r>
              <a:rPr lang="en-US" sz="6400" dirty="0">
                <a:solidFill>
                  <a:srgbClr val="C00000"/>
                </a:solidFill>
              </a:rPr>
              <a:t> Tharun Sai (BT23GCS087)</a:t>
            </a:r>
          </a:p>
          <a:p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95AEA-E2C5-61E4-09CC-6105A2F00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8"/>
            <a:ext cx="2148840" cy="11220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8BC2C-BFBD-3468-F697-DC2C424C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BAFD7-1E5A-4997-FFAC-4F0EBE69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71683"/>
            <a:ext cx="4114800" cy="365125"/>
          </a:xfrm>
        </p:spPr>
        <p:txBody>
          <a:bodyPr/>
          <a:lstStyle/>
          <a:p>
            <a:r>
              <a:rPr lang="en-US" dirty="0"/>
              <a:t>FORENSIC-AI: An Intelligent Deepfake Video and Audio Authentication Toolchain for Digital Evidence</a:t>
            </a:r>
          </a:p>
        </p:txBody>
      </p:sp>
    </p:spTree>
    <p:extLst>
      <p:ext uri="{BB962C8B-B14F-4D97-AF65-F5344CB8AC3E}">
        <p14:creationId xmlns:p14="http://schemas.microsoft.com/office/powerpoint/2010/main" val="2929949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FB22-D4FB-79F6-7C04-3C66A8C6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18398"/>
            <a:ext cx="3360148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701407-8472-B6A0-C431-A7159C16A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251925"/>
              </p:ext>
            </p:extLst>
          </p:nvPr>
        </p:nvGraphicFramePr>
        <p:xfrm>
          <a:off x="838202" y="1343961"/>
          <a:ext cx="10515598" cy="45282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02823">
                  <a:extLst>
                    <a:ext uri="{9D8B030D-6E8A-4147-A177-3AD203B41FA5}">
                      <a16:colId xmlns:a16="http://schemas.microsoft.com/office/drawing/2014/main" val="2500841112"/>
                    </a:ext>
                  </a:extLst>
                </a:gridCol>
                <a:gridCol w="6445405">
                  <a:extLst>
                    <a:ext uri="{9D8B030D-6E8A-4147-A177-3AD203B41FA5}">
                      <a16:colId xmlns:a16="http://schemas.microsoft.com/office/drawing/2014/main" val="3373976344"/>
                    </a:ext>
                  </a:extLst>
                </a:gridCol>
                <a:gridCol w="2667370">
                  <a:extLst>
                    <a:ext uri="{9D8B030D-6E8A-4147-A177-3AD203B41FA5}">
                      <a16:colId xmlns:a16="http://schemas.microsoft.com/office/drawing/2014/main" val="2106466263"/>
                    </a:ext>
                  </a:extLst>
                </a:gridCol>
              </a:tblGrid>
              <a:tr h="2855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S.NO.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 NO.</a:t>
                      </a:r>
                      <a:endParaRPr lang="en-US" sz="2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6055833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9203124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073598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US" sz="2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0358901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2147632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(Phase -1)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2206618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(Phase -2)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7232775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US" sz="2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9 - 10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8777001"/>
                  </a:ext>
                </a:extLst>
              </a:tr>
              <a:tr h="333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649653"/>
                  </a:ext>
                </a:extLst>
              </a:tr>
              <a:tr h="3703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Implications and Significance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3409294"/>
                  </a:ext>
                </a:extLst>
              </a:tr>
              <a:tr h="387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and Future Research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5711333"/>
                  </a:ext>
                </a:extLst>
              </a:tr>
              <a:tr h="3712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7022729"/>
                  </a:ext>
                </a:extLst>
              </a:tr>
              <a:tr h="4482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16 - 17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03396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2A4EC3B-3169-08DD-7549-939741EA1A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D02EF-71AF-E83C-BA41-000B2FEA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B78A4-2677-2C24-52F2-6F114A001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</p:spTree>
    <p:extLst>
      <p:ext uri="{BB962C8B-B14F-4D97-AF65-F5344CB8AC3E}">
        <p14:creationId xmlns:p14="http://schemas.microsoft.com/office/powerpoint/2010/main" val="292490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8401-74C0-2C88-60C1-D8837554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975" y="144598"/>
            <a:ext cx="4073996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7B9E2-D437-C3B2-C7F4-9980D5B322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573" y="0"/>
            <a:ext cx="1484548" cy="7751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7EE45-1046-AE29-2DDF-0AEAED33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24DE03-ACC0-1F90-B1C2-06662ABBFC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3411" y="1587676"/>
            <a:ext cx="3726398" cy="2287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E0000"/>
                </a:solidFill>
              </a:rPr>
              <a:t>Background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E0000"/>
                </a:solidFill>
              </a:rPr>
              <a:t>• Rapid GAN-based video generation</a:t>
            </a:r>
            <a:br>
              <a:rPr lang="en-US" sz="1800" dirty="0">
                <a:solidFill>
                  <a:srgbClr val="EE0000"/>
                </a:solidFill>
              </a:rPr>
            </a:br>
            <a:r>
              <a:rPr lang="en-US" sz="1800" dirty="0">
                <a:solidFill>
                  <a:srgbClr val="EE0000"/>
                </a:solidFill>
              </a:rPr>
              <a:t>• Weak cross-dataset generalization</a:t>
            </a:r>
            <a:br>
              <a:rPr lang="en-US" sz="1800" dirty="0">
                <a:solidFill>
                  <a:srgbClr val="EE0000"/>
                </a:solidFill>
              </a:rPr>
            </a:br>
            <a:r>
              <a:rPr lang="en-US" sz="1800" dirty="0">
                <a:solidFill>
                  <a:srgbClr val="EE0000"/>
                </a:solidFill>
              </a:rPr>
              <a:t>• Lack of forensic calibration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E0000"/>
                </a:solidFill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EE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2E7BC-0DB2-B069-9D1B-8ECEF11A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FORENSIC-AI: An Intelligent Deepfake Video and Audio Authentication Toolchain for Digital Evidence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7E8362-9BA2-7F9B-459F-CE05250795E9}"/>
              </a:ext>
            </a:extLst>
          </p:cNvPr>
          <p:cNvSpPr txBox="1"/>
          <p:nvPr/>
        </p:nvSpPr>
        <p:spPr>
          <a:xfrm>
            <a:off x="813411" y="4110512"/>
            <a:ext cx="103328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Problem Statement: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“To analyze the cross-dataset generalization of a CLIP-</a:t>
            </a:r>
            <a:r>
              <a:rPr lang="en-US" i="1" dirty="0" err="1">
                <a:solidFill>
                  <a:srgbClr val="FF0000"/>
                </a:solidFill>
              </a:rPr>
              <a:t>ViT</a:t>
            </a:r>
            <a:r>
              <a:rPr lang="en-US" i="1" dirty="0">
                <a:solidFill>
                  <a:srgbClr val="FF0000"/>
                </a:solidFill>
              </a:rPr>
              <a:t>–based deepfake video detection model for forensic authentication using AUC and HTER metrics.”</a:t>
            </a:r>
            <a:endParaRPr lang="en-US" altLang="en-US" i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60246-2131-08B8-495D-E7ED1FAF6F3F}"/>
              </a:ext>
            </a:extLst>
          </p:cNvPr>
          <p:cNvSpPr txBox="1"/>
          <p:nvPr/>
        </p:nvSpPr>
        <p:spPr>
          <a:xfrm>
            <a:off x="4405217" y="1587676"/>
            <a:ext cx="31492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E0000"/>
                </a:solidFill>
              </a:rPr>
              <a:t>What is Deepfake?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E0000"/>
                </a:solidFill>
              </a:rPr>
              <a:t>• AI-generated synthetic media</a:t>
            </a:r>
            <a:br>
              <a:rPr lang="en-US" sz="1800" dirty="0">
                <a:solidFill>
                  <a:srgbClr val="EE0000"/>
                </a:solidFill>
              </a:rPr>
            </a:br>
            <a:r>
              <a:rPr lang="en-US" sz="1800" dirty="0">
                <a:solidFill>
                  <a:srgbClr val="EE0000"/>
                </a:solidFill>
              </a:rPr>
              <a:t>• Facial identity manipulation</a:t>
            </a:r>
            <a:br>
              <a:rPr lang="en-US" sz="1800" dirty="0">
                <a:solidFill>
                  <a:srgbClr val="EE0000"/>
                </a:solidFill>
              </a:rPr>
            </a:br>
            <a:r>
              <a:rPr lang="en-US" sz="1800" dirty="0">
                <a:solidFill>
                  <a:srgbClr val="EE0000"/>
                </a:solidFill>
              </a:rPr>
              <a:t>• GAN and diffusion models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rgbClr val="EE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EE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53DFA-EA50-710D-D456-674987F7FBB8}"/>
              </a:ext>
            </a:extLst>
          </p:cNvPr>
          <p:cNvSpPr txBox="1"/>
          <p:nvPr/>
        </p:nvSpPr>
        <p:spPr>
          <a:xfrm>
            <a:off x="8235179" y="1587676"/>
            <a:ext cx="32578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E0000"/>
                </a:solidFill>
              </a:rPr>
              <a:t>Why is it Important?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E0000"/>
                </a:solidFill>
              </a:rPr>
              <a:t>• Enables misinformation and identity fraud</a:t>
            </a:r>
            <a:br>
              <a:rPr lang="en-US" sz="1800" dirty="0">
                <a:solidFill>
                  <a:srgbClr val="EE0000"/>
                </a:solidFill>
              </a:rPr>
            </a:br>
            <a:r>
              <a:rPr lang="en-US" sz="1800" dirty="0">
                <a:solidFill>
                  <a:srgbClr val="EE0000"/>
                </a:solidFill>
              </a:rPr>
              <a:t>• Threat to digital evidence</a:t>
            </a:r>
            <a:br>
              <a:rPr lang="en-US" sz="1800" dirty="0">
                <a:solidFill>
                  <a:srgbClr val="EE0000"/>
                </a:solidFill>
              </a:rPr>
            </a:br>
            <a:r>
              <a:rPr lang="en-US" sz="1800" dirty="0">
                <a:solidFill>
                  <a:srgbClr val="EE0000"/>
                </a:solidFill>
              </a:rPr>
              <a:t>• </a:t>
            </a:r>
            <a:r>
              <a:rPr lang="en-IN" sz="1800" dirty="0">
                <a:solidFill>
                  <a:srgbClr val="EE0000"/>
                </a:solidFill>
              </a:rPr>
              <a:t>Demands forensic-grade detection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EE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18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F508-2133-1BE9-3A6D-2F4F542D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10510"/>
            <a:ext cx="3226776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4D29F-5F05-FBE3-86EF-AE2F4D29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C963BD-3237-D074-66D4-7D0C67CD16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E8CD639-CB36-02FC-4355-C70B70C7C5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9133" y="2108418"/>
            <a:ext cx="7545147" cy="2397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EE0000"/>
                </a:solidFill>
              </a:rPr>
              <a:t>To evaluate performance across different datasets.</a:t>
            </a:r>
          </a:p>
          <a:p>
            <a:r>
              <a:rPr lang="en-US" sz="2000" dirty="0">
                <a:solidFill>
                  <a:srgbClr val="EE0000"/>
                </a:solidFill>
              </a:rPr>
              <a:t>To apply staged training for better adaptation.</a:t>
            </a:r>
          </a:p>
          <a:p>
            <a:r>
              <a:rPr lang="en-US" sz="2000" dirty="0">
                <a:solidFill>
                  <a:srgbClr val="EE0000"/>
                </a:solidFill>
              </a:rPr>
              <a:t>To produce calibrated evidence-based outputs.</a:t>
            </a:r>
          </a:p>
          <a:p>
            <a:r>
              <a:rPr lang="en-US" sz="2000" dirty="0">
                <a:solidFill>
                  <a:srgbClr val="EE0000"/>
                </a:solidFill>
              </a:rPr>
              <a:t>To analyze performance on unseen data.</a:t>
            </a:r>
          </a:p>
          <a:p>
            <a:r>
              <a:rPr lang="en-US" sz="2000" dirty="0">
                <a:solidFill>
                  <a:srgbClr val="EE0000"/>
                </a:solidFill>
              </a:rPr>
              <a:t>To improve robustness under compression conditions.</a:t>
            </a:r>
          </a:p>
          <a:p>
            <a:r>
              <a:rPr lang="en-US" sz="2000" dirty="0">
                <a:solidFill>
                  <a:srgbClr val="EE0000"/>
                </a:solidFill>
              </a:rPr>
              <a:t>To assess the contribution of combined features.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071AF-DEFC-8532-EADD-A8179BCE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</p:spTree>
    <p:extLst>
      <p:ext uri="{BB962C8B-B14F-4D97-AF65-F5344CB8AC3E}">
        <p14:creationId xmlns:p14="http://schemas.microsoft.com/office/powerpoint/2010/main" val="72734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7824-5A74-5FF2-2DFF-D65A14C7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49EF-5A90-339F-5637-791B7D3B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162231"/>
            <a:ext cx="540004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LITERATURE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32B84-D4AA-0E9C-8D44-1FCC3F3899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CC123EE7-C1C2-FDFD-5F2C-52026D3D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612F21F-438D-43DE-A104-23673A49E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59979"/>
              </p:ext>
            </p:extLst>
          </p:nvPr>
        </p:nvGraphicFramePr>
        <p:xfrm>
          <a:off x="712341" y="1525182"/>
          <a:ext cx="10462518" cy="4429334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811659">
                  <a:extLst>
                    <a:ext uri="{9D8B030D-6E8A-4147-A177-3AD203B41FA5}">
                      <a16:colId xmlns:a16="http://schemas.microsoft.com/office/drawing/2014/main" val="613811553"/>
                    </a:ext>
                  </a:extLst>
                </a:gridCol>
                <a:gridCol w="1817241">
                  <a:extLst>
                    <a:ext uri="{9D8B030D-6E8A-4147-A177-3AD203B41FA5}">
                      <a16:colId xmlns:a16="http://schemas.microsoft.com/office/drawing/2014/main" val="40711961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5861945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639986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674652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9828192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513751253"/>
                    </a:ext>
                  </a:extLst>
                </a:gridCol>
                <a:gridCol w="1261368">
                  <a:extLst>
                    <a:ext uri="{9D8B030D-6E8A-4147-A177-3AD203B41FA5}">
                      <a16:colId xmlns:a16="http://schemas.microsoft.com/office/drawing/2014/main" val="552439942"/>
                    </a:ext>
                  </a:extLst>
                </a:gridCol>
              </a:tblGrid>
              <a:tr h="4018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Sr. No.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Author &amp; Year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Algorithm Proposed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Tools Used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Techniques Used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Strengths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Weaknesses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Research Challenges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85023425"/>
                  </a:ext>
                </a:extLst>
              </a:tr>
              <a:tr h="1099281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Zhao et al. (2021)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PCL + I2G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ResNet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,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PyTorch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Pairwise source feature, consistency loss over 4D patch volume, I2G: elastic deformation + Gaussian blending masks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Cross-dataset AUC 92.18% vs 86.03% SOTA; forgery localization; no fake data needed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Fails on full-face synthesis; poor on high-compression DFDC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Full-face synthesis bypasses method; future stitching may erase source features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58092342"/>
                  </a:ext>
                </a:extLst>
              </a:tr>
              <a:tr h="1293337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Pu et al. (2021)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YouTube/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Bilibili scraping Capsule Forensics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1,869 wild videos, 4.8M frames from YouTube &amp;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Bilibili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, 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Percentile-based video-level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Fp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decision metric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Largest wild dataset; exposes 77% F1 ceiling; DA retraining raises to 91%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Excludes NSFW; 77% unknown generation method; DA needs target fakes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Wild methods differ from benchmarks; long clean frames inflate false negatives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45224978"/>
                  </a:ext>
                </a:extLst>
              </a:tr>
              <a:tr h="1219345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Kosarkar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et al. (2023)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Customized CNN Model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CNN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Frame-level feature learning; 224×224 preprocessing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Improved over CNN &amp; MLP baselines; good AUC (0.92)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No temporal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modeling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; single dataset training; limited generalization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Integrate sequence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modeling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; validate across multiple datasets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4182755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4B40FF-7430-0158-ECF9-295C01CDA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152191"/>
              </p:ext>
            </p:extLst>
          </p:nvPr>
        </p:nvGraphicFramePr>
        <p:xfrm>
          <a:off x="712341" y="1930689"/>
          <a:ext cx="10462518" cy="4061215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811659">
                  <a:extLst>
                    <a:ext uri="{9D8B030D-6E8A-4147-A177-3AD203B41FA5}">
                      <a16:colId xmlns:a16="http://schemas.microsoft.com/office/drawing/2014/main" val="4252506288"/>
                    </a:ext>
                  </a:extLst>
                </a:gridCol>
                <a:gridCol w="1817241">
                  <a:extLst>
                    <a:ext uri="{9D8B030D-6E8A-4147-A177-3AD203B41FA5}">
                      <a16:colId xmlns:a16="http://schemas.microsoft.com/office/drawing/2014/main" val="334957138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476507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62868900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136059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33743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2005881"/>
                    </a:ext>
                  </a:extLst>
                </a:gridCol>
                <a:gridCol w="1261368">
                  <a:extLst>
                    <a:ext uri="{9D8B030D-6E8A-4147-A177-3AD203B41FA5}">
                      <a16:colId xmlns:a16="http://schemas.microsoft.com/office/drawing/2014/main" val="409418160"/>
                    </a:ext>
                  </a:extLst>
                </a:gridCol>
              </a:tblGrid>
              <a:tr h="1208854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Al-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Fehani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et al. (2023)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Threshold-Aware Federated Detection (TFD)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3D CNN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Local client training; threshold vector sharing; privacy-preserving learning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Reduced communication overhead; scalable distributed detection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Slightly lower accuracy than FedAvg; assumes i.i.d. client data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Handle heterogeneous client distributions; improve accuracy-privacy tradeoff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624523708"/>
                  </a:ext>
                </a:extLst>
              </a:tr>
              <a:tr h="1422253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Arshad et al. (2024)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Patch-wise Multiclass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ViT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Framework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Vision Transformer (ViT), ResNet-50, VGG-16 (baseline)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Multiclass classification (Real, GAN, Diffusion); patch-level feature extraction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Near-perfect F1 (~99.9%); granular source identification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High computational demand; requires large balanced datasets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Validate against future unseen manipulations; reduce computational requirements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79988422"/>
                  </a:ext>
                </a:extLst>
              </a:tr>
              <a:tr h="1430108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6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Reis &amp; Ribeiro (2024)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DCNN-based Facial Similarity Framework (ResNet-100 + ArcFace)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ResNet-100, ArcFace, Likelihood Ratio Model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Deep CNN feature extraction, Maximum similarity scoring, HTER-based thresholding, Likelihood Ratio interpretation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Strong forensic interpretability; statistically validated for legal evidence; high precision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Sensitive to low-quality images, illumination, and age variations; requires multiple authentic reference videos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 robustness to low-resolution media; reduce dependency on reference data; handle evolving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DeepFake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realism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94298450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F837BF-8917-C18C-BD05-DE4BFCB4C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494831"/>
              </p:ext>
            </p:extLst>
          </p:nvPr>
        </p:nvGraphicFramePr>
        <p:xfrm>
          <a:off x="712341" y="1930689"/>
          <a:ext cx="10462518" cy="4404607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800773">
                  <a:extLst>
                    <a:ext uri="{9D8B030D-6E8A-4147-A177-3AD203B41FA5}">
                      <a16:colId xmlns:a16="http://schemas.microsoft.com/office/drawing/2014/main" val="840748350"/>
                    </a:ext>
                  </a:extLst>
                </a:gridCol>
                <a:gridCol w="1828127">
                  <a:extLst>
                    <a:ext uri="{9D8B030D-6E8A-4147-A177-3AD203B41FA5}">
                      <a16:colId xmlns:a16="http://schemas.microsoft.com/office/drawing/2014/main" val="9865383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2501016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3405122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6247127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41328009"/>
                    </a:ext>
                  </a:extLst>
                </a:gridCol>
                <a:gridCol w="1306959">
                  <a:extLst>
                    <a:ext uri="{9D8B030D-6E8A-4147-A177-3AD203B41FA5}">
                      <a16:colId xmlns:a16="http://schemas.microsoft.com/office/drawing/2014/main" val="4147902562"/>
                    </a:ext>
                  </a:extLst>
                </a:gridCol>
                <a:gridCol w="1268859">
                  <a:extLst>
                    <a:ext uri="{9D8B030D-6E8A-4147-A177-3AD203B41FA5}">
                      <a16:colId xmlns:a16="http://schemas.microsoft.com/office/drawing/2014/main" val="1146267878"/>
                    </a:ext>
                  </a:extLst>
                </a:gridCol>
              </a:tblGrid>
              <a:tr h="1507493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7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Nguyen et al. (2024)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FakeFormer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, Vulnerability - Driven Vision Transformer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ViT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-S / Swin-S/-BSBI / BI blending4× NVIDIA A100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L2-Att: local attention guided by blending-boundary vulnerable patches,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Gaussian ground-truth weighted maps for patch vulnerability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FakeSwin-B 95.44% CDF2 AUC; 23M params; outperforms TALL-Swin by 4%+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50.84% AUC on StyleGAN2; no temporal modeling; misses non-blending artifacts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ViTs miss local artifacts without explicit attention; extending to synthetic fakes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851343456"/>
                  </a:ext>
                </a:extLst>
              </a:tr>
              <a:tr h="1507493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8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Yang et al. (2024)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FRVAE-CViT — VAE + Convolutional Vision Transformer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Efficient NetV2, B0Swin-Tiny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FRVAE: VAE with Non-Local Attention Block for latent features,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EfficientV2-Swin dual-path CNN + Transformer feature extraction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DFDC 97.98% ACC, Celeb-DF 99.83% ACC; latent fusion handles low-artifact cases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Not peer-reviewed; high params; β tuning sensitive; no real-time deployment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Balancing KL regularisation; generalising to unseen forgery types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08883679"/>
                  </a:ext>
                </a:extLst>
              </a:tr>
              <a:tr h="1082287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Qadir et al. (2024)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ResNet–Swish–BiLSTM Hybrid Model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ResNet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, Swish,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BiLSTM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Spatial feature extraction + temporal modeling; face extraction &amp; normalization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High accuracy (96.23%); effective hybrid architecture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Limited cross-dataset validation; incomplete temporal evolution modeling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 unseen-data generalization; enhance long-sequence temporal learning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939343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339410-39B3-4936-D2F6-25AB2D3EC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48179"/>
              </p:ext>
            </p:extLst>
          </p:nvPr>
        </p:nvGraphicFramePr>
        <p:xfrm>
          <a:off x="712341" y="1930689"/>
          <a:ext cx="10462518" cy="4429334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811659">
                  <a:extLst>
                    <a:ext uri="{9D8B030D-6E8A-4147-A177-3AD203B41FA5}">
                      <a16:colId xmlns:a16="http://schemas.microsoft.com/office/drawing/2014/main" val="2027589511"/>
                    </a:ext>
                  </a:extLst>
                </a:gridCol>
                <a:gridCol w="1817241">
                  <a:extLst>
                    <a:ext uri="{9D8B030D-6E8A-4147-A177-3AD203B41FA5}">
                      <a16:colId xmlns:a16="http://schemas.microsoft.com/office/drawing/2014/main" val="9319698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4595719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1775887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4674538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28839566"/>
                    </a:ext>
                  </a:extLst>
                </a:gridCol>
                <a:gridCol w="1306959">
                  <a:extLst>
                    <a:ext uri="{9D8B030D-6E8A-4147-A177-3AD203B41FA5}">
                      <a16:colId xmlns:a16="http://schemas.microsoft.com/office/drawing/2014/main" val="953968503"/>
                    </a:ext>
                  </a:extLst>
                </a:gridCol>
                <a:gridCol w="1268859">
                  <a:extLst>
                    <a:ext uri="{9D8B030D-6E8A-4147-A177-3AD203B41FA5}">
                      <a16:colId xmlns:a16="http://schemas.microsoft.com/office/drawing/2014/main" val="1513908808"/>
                    </a:ext>
                  </a:extLst>
                </a:gridCol>
              </a:tblGrid>
              <a:tr h="1547270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10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Hong et al.</a:t>
                      </a:r>
                      <a:b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</a:b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(2024)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GANs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ResNet50 / ViT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Hierarchical 5-level dataset (cross-generator, architecture, weight, time, version)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3.6M+ images; ViT trained on WildFake outperforms ArtiFact/GenImage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No pixel-level masks; imbalanced generator coverage; AUC drops on Diffusion DB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Detectors fail across generator families; evolving generators outpace dataset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7082780"/>
                  </a:ext>
                </a:extLst>
              </a:tr>
              <a:tr h="1547270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11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Ramanaharan et al. (2025)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Systematic Review &amp; Cross-Dataset Evaluation Framework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Spatial, temporal, multimodal &amp; hybrid categorization; cross-dataset evaluation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Comprehensive mapping of 2018–2024 landscape; identifies generalization gaps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Overfitting in reviewed models; high computational complexity; limited real-world validation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 cross-dataset generalization; create diverse datasets; enable real-time scalable models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553805174"/>
                  </a:ext>
                </a:extLst>
              </a:tr>
              <a:tr h="1334794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12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Alrashoud (2025)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PRISMA-based Systematic Review Framework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1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Visual, audio &amp; multimodal classification; feature-based &amp; deep learning taxonomy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Strong structured overview; highlights robustness gaps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High computational complexity in reviewed models; weak compressed-video performance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Develop standardized benchmarks; robust multimodal frameworks; real-world deployment readiness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864547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5045E4-6EF2-EA66-F808-72B6BEC3A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798573"/>
              </p:ext>
            </p:extLst>
          </p:nvPr>
        </p:nvGraphicFramePr>
        <p:xfrm>
          <a:off x="712341" y="1941870"/>
          <a:ext cx="10462518" cy="4434370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811659">
                  <a:extLst>
                    <a:ext uri="{9D8B030D-6E8A-4147-A177-3AD203B41FA5}">
                      <a16:colId xmlns:a16="http://schemas.microsoft.com/office/drawing/2014/main" val="1840615512"/>
                    </a:ext>
                  </a:extLst>
                </a:gridCol>
                <a:gridCol w="1817241">
                  <a:extLst>
                    <a:ext uri="{9D8B030D-6E8A-4147-A177-3AD203B41FA5}">
                      <a16:colId xmlns:a16="http://schemas.microsoft.com/office/drawing/2014/main" val="53383497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39655285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793234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15434334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09022190"/>
                    </a:ext>
                  </a:extLst>
                </a:gridCol>
                <a:gridCol w="1306959">
                  <a:extLst>
                    <a:ext uri="{9D8B030D-6E8A-4147-A177-3AD203B41FA5}">
                      <a16:colId xmlns:a16="http://schemas.microsoft.com/office/drawing/2014/main" val="1398607861"/>
                    </a:ext>
                  </a:extLst>
                </a:gridCol>
                <a:gridCol w="1268859">
                  <a:extLst>
                    <a:ext uri="{9D8B030D-6E8A-4147-A177-3AD203B41FA5}">
                      <a16:colId xmlns:a16="http://schemas.microsoft.com/office/drawing/2014/main" val="298776263"/>
                    </a:ext>
                  </a:extLst>
                </a:gridCol>
              </a:tblGrid>
              <a:tr h="831277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13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Soundarya et al. (2025)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Modified ResNet34 with Texture Enhancement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ResNet34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Texture-based feature enhancement + deep CNN learning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High accuracy (97.5%); improved sensitivity to subtle manipulations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Weak cross-dataset robustness; dependent on FaceForensics++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 adaptive learning; validate across diverse GAN outputs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20929303"/>
                  </a:ext>
                </a:extLst>
              </a:tr>
              <a:tr h="970771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14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Sharma et al. (2025)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VideoMAE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Dual-Head Framework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VideoMAE, Spatiotemporal Transformer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Joint detection + source attribution; forensic embedding generation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Integrates detection &amp; attribution; strong generalization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Vulnerable to adversarial attacks; dataset sensitivity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 adversarial robustness; validate across emerging generative models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84107395"/>
                  </a:ext>
                </a:extLst>
              </a:tr>
              <a:tr h="1401993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15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Nishchal Soni (2025)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Multi-layered Forensic Framework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Image/video/multimodal review; legal &amp; anti-forensic analysis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Strong legal integration; cybercrime-focused forensic insights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Legal admissibility issues; vulnerable to advanced anti-forensics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Global legal standardization; secure provenance integration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62944265"/>
                  </a:ext>
                </a:extLst>
              </a:tr>
              <a:tr h="1230329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16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Singh &amp;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Dhumane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(2025)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Integrative Review on Deepfake &amp; Cybersecurity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Biometric AI models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Cross-domain cybersecurity mapping; adversarial vulnerability analysis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Comprehensive interdisciplinary roadmap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Dataset bias; high computational cost; adversarial sensitivity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Develop privacy-preserving scalable detection; coordinated cybersecurity policies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289173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952A53-E2C9-898A-9D5F-F55FAF2B9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47366"/>
              </p:ext>
            </p:extLst>
          </p:nvPr>
        </p:nvGraphicFramePr>
        <p:xfrm>
          <a:off x="712341" y="1952183"/>
          <a:ext cx="10462518" cy="4429451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811659">
                  <a:extLst>
                    <a:ext uri="{9D8B030D-6E8A-4147-A177-3AD203B41FA5}">
                      <a16:colId xmlns:a16="http://schemas.microsoft.com/office/drawing/2014/main" val="3059972355"/>
                    </a:ext>
                  </a:extLst>
                </a:gridCol>
                <a:gridCol w="1817241">
                  <a:extLst>
                    <a:ext uri="{9D8B030D-6E8A-4147-A177-3AD203B41FA5}">
                      <a16:colId xmlns:a16="http://schemas.microsoft.com/office/drawing/2014/main" val="17237104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7431412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517529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9284399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06551481"/>
                    </a:ext>
                  </a:extLst>
                </a:gridCol>
                <a:gridCol w="1306959">
                  <a:extLst>
                    <a:ext uri="{9D8B030D-6E8A-4147-A177-3AD203B41FA5}">
                      <a16:colId xmlns:a16="http://schemas.microsoft.com/office/drawing/2014/main" val="278439678"/>
                    </a:ext>
                  </a:extLst>
                </a:gridCol>
                <a:gridCol w="1268859">
                  <a:extLst>
                    <a:ext uri="{9D8B030D-6E8A-4147-A177-3AD203B41FA5}">
                      <a16:colId xmlns:a16="http://schemas.microsoft.com/office/drawing/2014/main" val="3424679376"/>
                    </a:ext>
                  </a:extLst>
                </a:gridCol>
              </a:tblGrid>
              <a:tr h="1472689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17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Lin et al. (2025)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RepDFD — CLIP Reprogramming for Deepfake Detection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CLIP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ViT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-L (frozen) </a:t>
                      </a:r>
                      <a:r>
                        <a:rPr lang="en-IN" sz="1100" b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TransFace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encoder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Learnable pixel-space visual prompt δ (0.078M params only), 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Face2Text: face embedding injected as text token [FE]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0.078M params; CLIP frozen; Wild AUC 88.05%, DFDCP 95.03%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Moderate CDF performance (~80%); image downsized inside prompt border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Binary labels lack specificity; optimal border width is manual hyperparameter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909442494"/>
                  </a:ext>
                </a:extLst>
              </a:tr>
              <a:tr h="1803293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18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Gong et al.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 (2025)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CAFM, GAM, MSFFM - Multi-Scale Multi-Domain Forgery Detection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  <a:tabLst>
                          <a:tab pos="114300" algn="l"/>
                        </a:tabLst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EfficientNet-B4 DCT transformNVIDIA A30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CAFM: cross-attention fusion of RGB spatial + DCT frequency features,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GAM: guided attention via channel-mean subtraction + softmax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 </a:t>
                      </a:r>
                      <a:endParaRPr lang="en-IN" sz="1100" b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FF++ LQ 89.95%, WildDeepfake 90.78% AUC; 17.8M params; +3.9% over GocNet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Low-freq focus misses high-freq clues; 833ms/image; cross-dataset AUC lags ~20%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Combining freq bands without losing robustness; adapting to diffusion-generated images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498691005"/>
                  </a:ext>
                </a:extLst>
              </a:tr>
              <a:tr h="1107131"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19</a:t>
                      </a:r>
                      <a:endParaRPr lang="en-IN" sz="1100" b="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Bharati et al. (2026)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Multi-Model Explainable Framework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CNN, ELA, PCA, SHAP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Hybrid explainable AI; probabilistic forensic reasoning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High accuracy (97%); strong interpretability; top challenge ranking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High computational cost; limited real-time capability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10"/>
                        </a:spcBef>
                        <a:buNone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</a:rPr>
                        <a:t>Improve adversarial validation; optimize computational efficiency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16223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39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6559-2A8B-4704-8B41-C7B1B276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847" y="-125980"/>
            <a:ext cx="416052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METHODOLOGY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2D187-37D4-1213-3707-11A3F4AB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B4B440-167B-7F85-71B0-595531D8F4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AF27F7-4242-9808-D1CB-EC4A9B36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A5BD0F-A923-C177-43E8-6E706AD6E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61" y="924454"/>
            <a:ext cx="11512877" cy="543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6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70E8-F4B7-CCB5-4C0D-585931C0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264602"/>
            <a:ext cx="7165797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IMPLEMENTATION – PHASE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8E293-7B76-E700-FAF8-EE51BE06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CECF4B9-3EC6-2C38-691F-4D766DF6B1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8253" y="1700965"/>
            <a:ext cx="5505690" cy="1881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</a:rPr>
              <a:t>Hardware Setup</a:t>
            </a:r>
          </a:p>
          <a:p>
            <a:r>
              <a:rPr lang="en-IN" sz="1800" b="1" dirty="0">
                <a:solidFill>
                  <a:srgbClr val="FF0000"/>
                </a:solidFill>
              </a:rPr>
              <a:t>GPU:</a:t>
            </a:r>
            <a:r>
              <a:rPr lang="en-IN" sz="1800" dirty="0">
                <a:solidFill>
                  <a:srgbClr val="FF0000"/>
                </a:solidFill>
              </a:rPr>
              <a:t> NVIDIA GPU with ≥ 6GB VRAM</a:t>
            </a:r>
          </a:p>
          <a:p>
            <a:r>
              <a:rPr lang="en-IN" sz="1800" b="1" dirty="0">
                <a:solidFill>
                  <a:srgbClr val="FF0000"/>
                </a:solidFill>
              </a:rPr>
              <a:t>CUDA:</a:t>
            </a:r>
            <a:r>
              <a:rPr lang="en-IN" sz="1800" dirty="0">
                <a:solidFill>
                  <a:srgbClr val="FF0000"/>
                </a:solidFill>
              </a:rPr>
              <a:t> Version 12.x</a:t>
            </a:r>
          </a:p>
          <a:p>
            <a:r>
              <a:rPr lang="en-IN" sz="1800" b="1" dirty="0">
                <a:solidFill>
                  <a:srgbClr val="FF0000"/>
                </a:solidFill>
              </a:rPr>
              <a:t>OS:</a:t>
            </a:r>
            <a:r>
              <a:rPr lang="en-IN" sz="1800" dirty="0">
                <a:solidFill>
                  <a:srgbClr val="FF0000"/>
                </a:solidFill>
              </a:rPr>
              <a:t> Windows 10/11 or Linux</a:t>
            </a:r>
          </a:p>
          <a:p>
            <a:r>
              <a:rPr lang="en-IN" sz="1800" b="1" dirty="0">
                <a:solidFill>
                  <a:srgbClr val="FF0000"/>
                </a:solidFill>
              </a:rPr>
              <a:t>Python:</a:t>
            </a:r>
            <a:r>
              <a:rPr lang="en-IN" sz="1800" dirty="0">
                <a:solidFill>
                  <a:srgbClr val="FF0000"/>
                </a:solidFill>
              </a:rPr>
              <a:t> 3.11, </a:t>
            </a:r>
            <a:r>
              <a:rPr lang="en-IN" sz="1800" dirty="0" err="1">
                <a:solidFill>
                  <a:srgbClr val="FF0000"/>
                </a:solidFill>
              </a:rPr>
              <a:t>PyTorch</a:t>
            </a:r>
            <a:r>
              <a:rPr lang="en-IN" sz="1800" dirty="0">
                <a:solidFill>
                  <a:srgbClr val="FF0000"/>
                </a:solidFill>
              </a:rPr>
              <a:t> 2.x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467CD-E668-C713-D28B-FD6D72E64F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80B6A-C41B-1F51-7F84-7A09BBD6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78B864-7A57-EC6A-1E70-06DA302B96F0}"/>
              </a:ext>
            </a:extLst>
          </p:cNvPr>
          <p:cNvSpPr txBox="1"/>
          <p:nvPr/>
        </p:nvSpPr>
        <p:spPr>
          <a:xfrm>
            <a:off x="6113943" y="1576316"/>
            <a:ext cx="550569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Core Algorithm </a:t>
            </a:r>
          </a:p>
          <a:p>
            <a:endParaRPr lang="en-IN" sz="6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Spatial Branch: </a:t>
            </a:r>
            <a:r>
              <a:rPr lang="en-US" altLang="en-US" dirty="0">
                <a:solidFill>
                  <a:srgbClr val="FF0000"/>
                </a:solidFill>
              </a:rPr>
              <a:t>CLIP </a:t>
            </a:r>
            <a:r>
              <a:rPr lang="en-US" altLang="en-US" dirty="0" err="1">
                <a:solidFill>
                  <a:srgbClr val="FF0000"/>
                </a:solidFill>
              </a:rPr>
              <a:t>ViT</a:t>
            </a:r>
            <a:r>
              <a:rPr lang="en-US" altLang="en-US" dirty="0">
                <a:solidFill>
                  <a:srgbClr val="FF0000"/>
                </a:solidFill>
              </a:rPr>
              <a:t> detects visual artifact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Frequency Branch: </a:t>
            </a:r>
            <a:r>
              <a:rPr lang="en-US" altLang="en-US" dirty="0">
                <a:solidFill>
                  <a:srgbClr val="FF0000"/>
                </a:solidFill>
              </a:rPr>
              <a:t>DCT  identifies GAN/diffusion traces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Temporal Module: </a:t>
            </a:r>
            <a:r>
              <a:rPr lang="en-US" altLang="en-US" dirty="0">
                <a:solidFill>
                  <a:srgbClr val="FF0000"/>
                </a:solidFill>
              </a:rPr>
              <a:t>Self-attention for spots frame inconsistencies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Fusion: </a:t>
            </a:r>
            <a:r>
              <a:rPr lang="en-US" altLang="en-US" dirty="0">
                <a:solidFill>
                  <a:srgbClr val="FF0000"/>
                </a:solidFill>
              </a:rPr>
              <a:t>Concatenated features passed to an MLP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FF0000"/>
                </a:solidFill>
              </a:rPr>
              <a:t>Output: C</a:t>
            </a:r>
            <a:r>
              <a:rPr lang="en-US" altLang="en-US" dirty="0">
                <a:solidFill>
                  <a:srgbClr val="FF0000"/>
                </a:solidFill>
              </a:rPr>
              <a:t>onverted to Likelihood Ratio (LR) using calibration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074913-9B86-13D2-DBD8-3A0744B3A742}"/>
              </a:ext>
            </a:extLst>
          </p:cNvPr>
          <p:cNvSpPr txBox="1"/>
          <p:nvPr/>
        </p:nvSpPr>
        <p:spPr>
          <a:xfrm>
            <a:off x="608252" y="4390672"/>
            <a:ext cx="95720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Initial Modeling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Protocol: </a:t>
            </a:r>
            <a:r>
              <a:rPr lang="en-US" dirty="0">
                <a:solidFill>
                  <a:srgbClr val="FF0000"/>
                </a:solidFill>
              </a:rPr>
              <a:t>Strict, leakage-free staged training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Stage 1 : </a:t>
            </a:r>
            <a:r>
              <a:rPr lang="en-US" dirty="0">
                <a:solidFill>
                  <a:srgbClr val="FF0000"/>
                </a:solidFill>
              </a:rPr>
              <a:t>Base training purely on </a:t>
            </a:r>
            <a:r>
              <a:rPr lang="en-US" dirty="0" err="1">
                <a:solidFill>
                  <a:srgbClr val="FF0000"/>
                </a:solidFill>
              </a:rPr>
              <a:t>FaceForensics</a:t>
            </a:r>
            <a:r>
              <a:rPr lang="en-US" dirty="0">
                <a:solidFill>
                  <a:srgbClr val="FF0000"/>
                </a:solidFill>
              </a:rPr>
              <a:t>++ only.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Stage 2 : </a:t>
            </a:r>
            <a:r>
              <a:rPr lang="en-US" dirty="0">
                <a:solidFill>
                  <a:srgbClr val="FF0000"/>
                </a:solidFill>
              </a:rPr>
              <a:t>Domain adaptation with 50% of FF++ and </a:t>
            </a:r>
            <a:r>
              <a:rPr lang="en-US" dirty="0" err="1">
                <a:solidFill>
                  <a:srgbClr val="FF0000"/>
                </a:solidFill>
              </a:rPr>
              <a:t>WildDeepfake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Celeb-DF-v2 is kept completely unseen during training and is used only for final evaluation. </a:t>
            </a:r>
          </a:p>
        </p:txBody>
      </p:sp>
    </p:spTree>
    <p:extLst>
      <p:ext uri="{BB962C8B-B14F-4D97-AF65-F5344CB8AC3E}">
        <p14:creationId xmlns:p14="http://schemas.microsoft.com/office/powerpoint/2010/main" val="42562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78AC-944E-0C7A-0A52-3EB910C4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A0BF-6F14-8335-186D-10B977695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34244"/>
            <a:ext cx="718566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IMPLEMENTATION – PHASE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B6805-69F1-1634-BC36-AFFF726F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6F1BD9-E2B7-F9EB-C0C0-6A9AF67C5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1165" y="1659807"/>
            <a:ext cx="5474835" cy="39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</a:rPr>
              <a:t>Integration</a:t>
            </a:r>
            <a:endParaRPr lang="en-I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FF0000"/>
                </a:solidFill>
              </a:rPr>
              <a:t>Processing Pipeline: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rgbClr val="FF0000"/>
                </a:solidFill>
              </a:rPr>
              <a:t>Video input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rgbClr val="FF0000"/>
                </a:solidFill>
              </a:rPr>
              <a:t> Frame extraction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rgbClr val="FF0000"/>
                </a:solidFill>
              </a:rPr>
              <a:t>Face detection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rgbClr val="FF0000"/>
                </a:solidFill>
              </a:rPr>
              <a:t>Feature extraction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rgbClr val="FF0000"/>
                </a:solidFill>
              </a:rPr>
              <a:t>Classification 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solidFill>
                  <a:srgbClr val="FF0000"/>
                </a:solidFill>
              </a:rPr>
              <a:t>Calibration </a:t>
            </a:r>
            <a:endParaRPr lang="en-IN" sz="16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800" b="1" dirty="0">
                <a:solidFill>
                  <a:srgbClr val="FF0000"/>
                </a:solidFill>
              </a:rPr>
              <a:t>Modular Design:</a:t>
            </a:r>
          </a:p>
          <a:p>
            <a:r>
              <a:rPr lang="en-IN" sz="1800" dirty="0">
                <a:solidFill>
                  <a:srgbClr val="FF0000"/>
                </a:solidFill>
              </a:rPr>
              <a:t>Model, training, evaluation, calibration modules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693BC7-9E93-7A60-ABA2-9834B1D89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7B0A6-0C15-FDF0-800D-D0822B83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57A1B-5F35-DF31-9861-E9216AF955E4}"/>
              </a:ext>
            </a:extLst>
          </p:cNvPr>
          <p:cNvSpPr txBox="1"/>
          <p:nvPr/>
        </p:nvSpPr>
        <p:spPr>
          <a:xfrm>
            <a:off x="5919872" y="1481826"/>
            <a:ext cx="6267048" cy="4669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FF0000"/>
                </a:solidFill>
              </a:rPr>
              <a:t>Testing Environment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Data Setup: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Train on </a:t>
            </a:r>
            <a:r>
              <a:rPr lang="en-IN" dirty="0" err="1">
                <a:solidFill>
                  <a:srgbClr val="FF0000"/>
                </a:solidFill>
              </a:rPr>
              <a:t>FaceForensics</a:t>
            </a:r>
            <a:r>
              <a:rPr lang="en-IN" dirty="0">
                <a:solidFill>
                  <a:srgbClr val="FF0000"/>
                </a:solidFill>
              </a:rPr>
              <a:t>++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Adapt using </a:t>
            </a:r>
            <a:r>
              <a:rPr lang="en-IN" dirty="0" err="1">
                <a:solidFill>
                  <a:srgbClr val="FF0000"/>
                </a:solidFill>
              </a:rPr>
              <a:t>WildDeepfake</a:t>
            </a:r>
            <a:endParaRPr lang="en-IN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Testing on  Celeb-DF-v2 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Evaluation Metrics: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AUC, EER, HTER, CLLR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Validation Methods: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Ablation study: Tests the importance of each model part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Tippett plots: Shows how well real and fake outputs are separated.</a:t>
            </a:r>
          </a:p>
        </p:txBody>
      </p:sp>
    </p:spTree>
    <p:extLst>
      <p:ext uri="{BB962C8B-B14F-4D97-AF65-F5344CB8AC3E}">
        <p14:creationId xmlns:p14="http://schemas.microsoft.com/office/powerpoint/2010/main" val="75257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1242-0E83-545E-FDE4-99E3A840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12636"/>
            <a:ext cx="237236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48316-50C4-0333-FC5A-0D6DB6B5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175929-8ED9-B3B4-5CD8-2CB2CD0C1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87DFC83-04CE-E41A-51B5-B0C63C0107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7231"/>
            <a:ext cx="11165579" cy="745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KEY FINDING 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Ablation study — AUC by model variant across three datasets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DA8AF-95AE-92F9-7837-28E799CB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ACE27B-21C0-A17D-8721-52288B5AA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941121"/>
              </p:ext>
            </p:extLst>
          </p:nvPr>
        </p:nvGraphicFramePr>
        <p:xfrm>
          <a:off x="838200" y="2425648"/>
          <a:ext cx="105156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575809595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646315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165624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232044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61145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effectLst/>
                        </a:rPr>
                        <a:t>Model Variant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Architecture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effectLst/>
                        </a:rPr>
                        <a:t>FF++ AUC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Celeb-DF AUC ↑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WildDeepfake AUC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1502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Baseline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Spatial Only (CLIP-</a:t>
                      </a:r>
                      <a:r>
                        <a:rPr lang="en-IN" dirty="0" err="1">
                          <a:solidFill>
                            <a:srgbClr val="FF0000"/>
                          </a:solidFill>
                          <a:effectLst/>
                        </a:rPr>
                        <a:t>ViT</a:t>
                      </a: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0.9781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0.7742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0.8017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001772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Beta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Spatial + Temporal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0.9850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0.8667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0.8004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36352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Gamma (Ours)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Spatial + Temporal + Frequency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0.9912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0.9731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effectLst/>
                        </a:rPr>
                        <a:t>0.9060</a:t>
                      </a:r>
                      <a:endParaRPr lang="en-IN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849786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167CD93-EF28-B85E-8DCB-9EC911E42EB0}"/>
              </a:ext>
            </a:extLst>
          </p:cNvPr>
          <p:cNvSpPr txBox="1"/>
          <p:nvPr/>
        </p:nvSpPr>
        <p:spPr>
          <a:xfrm>
            <a:off x="838200" y="4961437"/>
            <a:ext cx="10040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Each branch provides a statistically significant improvement in cross-dataset zero-shot detection.</a:t>
            </a:r>
          </a:p>
        </p:txBody>
      </p:sp>
    </p:spTree>
    <p:extLst>
      <p:ext uri="{BB962C8B-B14F-4D97-AF65-F5344CB8AC3E}">
        <p14:creationId xmlns:p14="http://schemas.microsoft.com/office/powerpoint/2010/main" val="2762790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2730E-6721-4197-ECCC-96749234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8F4B-2D2F-80B6-E213-A98DB5CF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10510"/>
            <a:ext cx="254508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FD5F2-B6BD-F850-9320-B8105573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C27955-E555-C1BD-80CD-C56A2BE60C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FD5A94F-7069-C72F-F220-43F10CA415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2033"/>
            <a:ext cx="11165579" cy="74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KEY FINDING 2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Final calibrated model — CLLR per dataset (threshold: 0.40)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5EEAF-89C9-C756-DA1C-D8632FAD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84E9D-AB77-E813-BBC0-88CA5C2A9D7B}"/>
              </a:ext>
            </a:extLst>
          </p:cNvPr>
          <p:cNvSpPr txBox="1"/>
          <p:nvPr/>
        </p:nvSpPr>
        <p:spPr>
          <a:xfrm>
            <a:off x="838200" y="5021412"/>
            <a:ext cx="10040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CLLR &lt; 0.40</a:t>
            </a:r>
            <a:r>
              <a:rPr lang="en-US" dirty="0">
                <a:solidFill>
                  <a:srgbClr val="FF0000"/>
                </a:solidFill>
              </a:rPr>
              <a:t> on Celeb-DF-v2 meets the forensic court-admissibility threshold.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29E9EA-4A69-6FFF-870A-F770E558F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058066"/>
              </p:ext>
            </p:extLst>
          </p:nvPr>
        </p:nvGraphicFramePr>
        <p:xfrm>
          <a:off x="838200" y="2477960"/>
          <a:ext cx="105156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93934227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2949621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337905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157594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0716012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027635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effectLst/>
                        </a:rPr>
                        <a:t>Dataset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  <a:effectLst/>
                        </a:rPr>
                        <a:t>AUC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EER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HTER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CLLR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Status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475596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FF++ (In-Domain)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0.9913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0.0663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0.0663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0.2201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Excellent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93639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Celeb-DF-v2 (Zero-Shot)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0.9731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0.0861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0.0861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0.3705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Court-Admissible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282557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WildDeepfake (Zero-Shot)</a:t>
                      </a:r>
                      <a:endParaRPr lang="en-IN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0.9060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0.1650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0.1650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effectLst/>
                        </a:rPr>
                        <a:t>1.0408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  <a:effectLst/>
                        </a:rPr>
                        <a:t> Significant Gain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50299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63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F755-B80B-E21F-A9A8-319070EC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9E4C5-FF57-E165-2455-CC47E79F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92865"/>
            <a:ext cx="34290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DISCUSSION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4FE0C-8B97-9B86-BF08-92FABDA5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72E91-D001-353D-7FBB-89062FFFDA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D3964-A6E3-5FF0-7765-B1FFB6BD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F1A76B9-55B3-54CE-7AD9-2EAA2C37D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507" y="2040799"/>
            <a:ext cx="9571851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Multi-branch model (spatial + temporal + frequency) improves cross-dataset performance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Single-domain models fail in real-world settings; multi-modal learning generalizes better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CLLR = 0.3705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, meeting forensic admissibility threshold (&lt; 0.40)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court-valid Likelihood Ratio interpretation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, not just accuracy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Note: Performance still drops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WildDeepfake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dataset </a:t>
            </a:r>
          </a:p>
        </p:txBody>
      </p:sp>
    </p:spTree>
    <p:extLst>
      <p:ext uri="{BB962C8B-B14F-4D97-AF65-F5344CB8AC3E}">
        <p14:creationId xmlns:p14="http://schemas.microsoft.com/office/powerpoint/2010/main" val="196814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EC55-1B6A-82CC-BAE7-59C87D6A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C2FE-B13F-3CA4-57D6-4F19CD33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10510"/>
            <a:ext cx="8805552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IMPLICATIONS AND SIGNIFICANCE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8083C-6FDF-FE25-31C8-B3CEB3FB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432D2-7F9D-A33A-554A-8BB7989500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B3EFA-D835-84FF-532A-64664856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3A0B853-F157-9D26-88BF-AECA8DE011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507" y="1535885"/>
            <a:ext cx="8805552" cy="3786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Practical Use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Helps in forensic work to check if videos are real or fake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Gives court-usable results (Likelihood Ratios) instead of simple probabilities </a:t>
            </a:r>
          </a:p>
          <a:p>
            <a:pPr marL="0" indent="0">
              <a:buNone/>
            </a:pPr>
            <a:endParaRPr lang="en-US" sz="3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Technical Insight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Combining spatial, temporal, and frequency features makes the model more reliable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Calibration methods make the output more meaningful and accurate </a:t>
            </a:r>
          </a:p>
          <a:p>
            <a:pPr marL="0" indent="0">
              <a:buNone/>
            </a:pPr>
            <a:endParaRPr lang="en-US" sz="3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Importance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Connects AI results with legal requirements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Makes deepfake detection useful in real-world forensic cases </a:t>
            </a:r>
          </a:p>
        </p:txBody>
      </p:sp>
    </p:spTree>
    <p:extLst>
      <p:ext uri="{BB962C8B-B14F-4D97-AF65-F5344CB8AC3E}">
        <p14:creationId xmlns:p14="http://schemas.microsoft.com/office/powerpoint/2010/main" val="104064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CC1E8-E949-D453-4333-B64CE8D7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0ACB-8848-A614-4D5B-B88DC7B5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587" y="317616"/>
            <a:ext cx="836168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LIMITATIONS AND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66124-6E17-1EE9-4481-27710CA9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4AE48-68E6-DB9B-33CD-84F4FAB10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F2BB0D4-E8E3-4C14-D307-594D4E818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507" y="1691729"/>
            <a:ext cx="8939674" cy="3474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Limitations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Performance reduces on highly diverse real-world data (</a:t>
            </a:r>
            <a:r>
              <a:rPr lang="en-US" sz="2000" dirty="0" err="1">
                <a:solidFill>
                  <a:srgbClr val="FF0000"/>
                </a:solidFill>
              </a:rPr>
              <a:t>WildDeepfake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Requires high computational power due to multi-branch design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Mainly focused on face-based deepfakes only </a:t>
            </a:r>
          </a:p>
          <a:p>
            <a:pPr marL="0" indent="0">
              <a:buNone/>
            </a:pPr>
            <a:endParaRPr lang="en-US" sz="5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Future Work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Improve performance on real-world unseen data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Extend to full-frame and audio-visual deepfake detection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Develop lightweight models for real-time use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CF237-CEEB-0192-A85B-8473BD40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680C1F-AEE7-98AD-6224-C7FF50C50016}"/>
              </a:ext>
            </a:extLst>
          </p:cNvPr>
          <p:cNvSpPr txBox="1"/>
          <p:nvPr/>
        </p:nvSpPr>
        <p:spPr>
          <a:xfrm>
            <a:off x="838200" y="4866919"/>
            <a:ext cx="1004007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br>
              <a:rPr lang="en-US" sz="1400" dirty="0">
                <a:solidFill>
                  <a:srgbClr val="FF0000"/>
                </a:solidFill>
              </a:rPr>
            </a:br>
            <a:br>
              <a:rPr lang="en-US" sz="1400" dirty="0">
                <a:solidFill>
                  <a:srgbClr val="FF0000"/>
                </a:solidFill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9355562-7A71-EE6C-4454-F86A281FF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29288" y="1825625"/>
            <a:ext cx="32742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904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C6B62-7239-9EDD-CE4F-B532464F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28B6A-72B2-AE22-7879-EE880014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14</a:t>
            </a:fld>
            <a:endParaRPr lang="en-US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DBEC5582-F135-15AC-6138-A555F594D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6507" y="1953680"/>
            <a:ext cx="1031509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Brief Summary of Main Findings: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The multi-branch model improves cross-dataset performance and achieves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CLLR &lt; 0.40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, ensuring strong forensic reliability.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Key Conclusion: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Deepfake detection must focus on both accuracy and interpretability for real-world applicability.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Final Thought / Impact Statement: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This work transforms deepfake detection into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forensic-ready tool that supports real-world justice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F6C649F-FCA9-C938-F111-779A5921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507" y="310510"/>
            <a:ext cx="3619653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CONCLUSION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38974D-87C5-9398-B640-01B562373F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7"/>
            <a:ext cx="1216507" cy="635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6457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02829-4F74-8B5B-B5FF-3A434BD76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3200" dirty="0">
              <a:solidFill>
                <a:srgbClr val="C00000"/>
              </a:solidFill>
            </a:endParaRPr>
          </a:p>
          <a:p>
            <a:endParaRPr lang="en-US" sz="3200" dirty="0">
              <a:solidFill>
                <a:srgbClr val="C00000"/>
              </a:solidFill>
            </a:endParaRPr>
          </a:p>
          <a:p>
            <a:endParaRPr lang="en-US" sz="3200" dirty="0">
              <a:solidFill>
                <a:srgbClr val="C00000"/>
              </a:solidFill>
            </a:endParaRPr>
          </a:p>
          <a:p>
            <a:endParaRPr lang="en-US" sz="3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Thank you!!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Questions?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CFAEF0-D789-59A1-38D5-53480E87D1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625403"/>
            <a:ext cx="6903720" cy="360719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1E93D-9C34-3A4F-5512-4FB6FBF2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454F7F4-7DD8-4E66-8958-06920FBD8709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04F9D2-E990-AE12-2FB7-39E3D3B8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</p:spTree>
    <p:extLst>
      <p:ext uri="{BB962C8B-B14F-4D97-AF65-F5344CB8AC3E}">
        <p14:creationId xmlns:p14="http://schemas.microsoft.com/office/powerpoint/2010/main" val="2391954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DFB2-8BA8-F5AF-DF97-77F57AC4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FBBB-40F4-091F-3D32-EE355FF78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71" y="1003822"/>
            <a:ext cx="1158625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[1] Zhao, T., Xu, X., Xu, M., Ding, H., Xiong, Y., &amp; Xia, W. (2021). Learning self-consistency for deepfake detection. In </a:t>
            </a:r>
            <a:r>
              <a:rPr lang="en-IN" sz="1600" i="1" dirty="0">
                <a:solidFill>
                  <a:srgbClr val="FF0000"/>
                </a:solidFill>
              </a:rPr>
              <a:t>Proceedings of the IEEE/CVF international conference on computer vision</a:t>
            </a:r>
            <a:r>
              <a:rPr lang="en-IN" sz="1600" dirty="0">
                <a:solidFill>
                  <a:srgbClr val="FF0000"/>
                </a:solidFill>
              </a:rPr>
              <a:t> (pp. 15023-15033).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[2] Pu, J., </a:t>
            </a:r>
            <a:r>
              <a:rPr lang="en-IN" sz="1600" dirty="0" err="1">
                <a:solidFill>
                  <a:srgbClr val="FF0000"/>
                </a:solidFill>
              </a:rPr>
              <a:t>Mangaokar</a:t>
            </a:r>
            <a:r>
              <a:rPr lang="en-IN" sz="1600" dirty="0">
                <a:solidFill>
                  <a:srgbClr val="FF0000"/>
                </a:solidFill>
              </a:rPr>
              <a:t>, N., Kelly, L., Bhattacharya, P., Sundaram, K., Javed, M., ... &amp; Viswanath, B. (2021, April). Deepfake videos in the wild: Analysis and detection. In </a:t>
            </a:r>
            <a:r>
              <a:rPr lang="en-IN" sz="1600" i="1" dirty="0">
                <a:solidFill>
                  <a:srgbClr val="FF0000"/>
                </a:solidFill>
              </a:rPr>
              <a:t>Proceedings of the web conference 2021</a:t>
            </a:r>
            <a:r>
              <a:rPr lang="en-IN" sz="1600" dirty="0">
                <a:solidFill>
                  <a:srgbClr val="FF0000"/>
                </a:solidFill>
              </a:rPr>
              <a:t> (pp. 981-992).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[3] </a:t>
            </a:r>
            <a:r>
              <a:rPr lang="en-IN" sz="1600" dirty="0" err="1">
                <a:solidFill>
                  <a:srgbClr val="FF0000"/>
                </a:solidFill>
              </a:rPr>
              <a:t>Kosarkar</a:t>
            </a:r>
            <a:r>
              <a:rPr lang="en-IN" sz="1600" dirty="0">
                <a:solidFill>
                  <a:srgbClr val="FF0000"/>
                </a:solidFill>
              </a:rPr>
              <a:t>, U., </a:t>
            </a:r>
            <a:r>
              <a:rPr lang="en-IN" sz="1600" dirty="0" err="1">
                <a:solidFill>
                  <a:srgbClr val="FF0000"/>
                </a:solidFill>
              </a:rPr>
              <a:t>Sarkarkar</a:t>
            </a:r>
            <a:r>
              <a:rPr lang="en-IN" sz="1600" dirty="0">
                <a:solidFill>
                  <a:srgbClr val="FF0000"/>
                </a:solidFill>
              </a:rPr>
              <a:t>, G., &amp; Gedam, S. (2023). Revealing and classification of deepfakes video's images using a customized convolution neural network model. Procedia Computer Science, 218, 2636-2652.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[4] Al-</a:t>
            </a:r>
            <a:r>
              <a:rPr lang="en-IN" sz="1600" dirty="0" err="1">
                <a:solidFill>
                  <a:srgbClr val="FF0000"/>
                </a:solidFill>
              </a:rPr>
              <a:t>Fehani</a:t>
            </a:r>
            <a:r>
              <a:rPr lang="en-IN" sz="1600" dirty="0">
                <a:solidFill>
                  <a:srgbClr val="FF0000"/>
                </a:solidFill>
              </a:rPr>
              <a:t>, M., Al-Baseer, A., &amp; Al-Kuwari, S. (2026). TFD-Video: Threshold-Aware Federated Deepfake Detection for Video Forensics. IEEE Access.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[5] </a:t>
            </a:r>
            <a:r>
              <a:rPr lang="en-IN" sz="1600" dirty="0" err="1">
                <a:solidFill>
                  <a:srgbClr val="FF0000"/>
                </a:solidFill>
              </a:rPr>
              <a:t>Arshed</a:t>
            </a:r>
            <a:r>
              <a:rPr lang="en-IN" sz="1600" dirty="0">
                <a:solidFill>
                  <a:srgbClr val="FF0000"/>
                </a:solidFill>
              </a:rPr>
              <a:t>, M. A., Mumtaz, S., Ibrahim, M., Dewi, C., Tanveer, M., &amp; Ahmed, S. (2024). Multiclass ai-generated deepfake face detection using patch-wise deep learning model. Computers, 13(1), 31. [6] Reis, P. M. G. I., &amp; Ribeiro, R. O. (2024). A forensic evaluation method for </a:t>
            </a:r>
            <a:r>
              <a:rPr lang="en-IN" sz="1600" dirty="0" err="1">
                <a:solidFill>
                  <a:srgbClr val="FF0000"/>
                </a:solidFill>
              </a:rPr>
              <a:t>DeepFake</a:t>
            </a:r>
            <a:r>
              <a:rPr lang="en-IN" sz="1600" dirty="0">
                <a:solidFill>
                  <a:srgbClr val="FF0000"/>
                </a:solidFill>
              </a:rPr>
              <a:t> detection using DCNN based facial similarity scores. Forensic Science International, 358, 111747.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[7] Nguyen, D., Astrid, M., Ghorbel, E., &amp; </a:t>
            </a:r>
            <a:r>
              <a:rPr lang="en-IN" sz="1600" dirty="0" err="1">
                <a:solidFill>
                  <a:srgbClr val="FF0000"/>
                </a:solidFill>
              </a:rPr>
              <a:t>Aouada</a:t>
            </a:r>
            <a:r>
              <a:rPr lang="en-IN" sz="1600" dirty="0">
                <a:solidFill>
                  <a:srgbClr val="FF0000"/>
                </a:solidFill>
              </a:rPr>
              <a:t>, D. (2024). </a:t>
            </a:r>
            <a:r>
              <a:rPr lang="en-IN" sz="1600" dirty="0" err="1">
                <a:solidFill>
                  <a:srgbClr val="FF0000"/>
                </a:solidFill>
              </a:rPr>
              <a:t>Fakeformer</a:t>
            </a:r>
            <a:r>
              <a:rPr lang="en-IN" sz="1600" dirty="0">
                <a:solidFill>
                  <a:srgbClr val="FF0000"/>
                </a:solidFill>
              </a:rPr>
              <a:t>: Efficient vulnerability-driven transformers for generalisable deepfake detection. </a:t>
            </a:r>
            <a:r>
              <a:rPr lang="en-IN" sz="1600" i="1" dirty="0" err="1">
                <a:solidFill>
                  <a:srgbClr val="FF0000"/>
                </a:solidFill>
              </a:rPr>
              <a:t>arXiv</a:t>
            </a:r>
            <a:r>
              <a:rPr lang="en-IN" sz="1600" i="1" dirty="0">
                <a:solidFill>
                  <a:srgbClr val="FF0000"/>
                </a:solidFill>
              </a:rPr>
              <a:t> preprint arXiv:2410.21964</a:t>
            </a:r>
            <a:r>
              <a:rPr lang="en-IN" sz="16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[8] Yang, G., Tang, H., Zhang, J., Wang, X., &amp; Liu, Z. A Robust Deepfake Video Detection by Visual and Latent </a:t>
            </a:r>
            <a:r>
              <a:rPr lang="en-IN" sz="1600" dirty="0" err="1">
                <a:solidFill>
                  <a:srgbClr val="FF0000"/>
                </a:solidFill>
              </a:rPr>
              <a:t>Featrues</a:t>
            </a:r>
            <a:r>
              <a:rPr lang="en-IN" sz="1600" dirty="0">
                <a:solidFill>
                  <a:srgbClr val="FF0000"/>
                </a:solidFill>
              </a:rPr>
              <a:t> Fusion. </a:t>
            </a:r>
            <a:r>
              <a:rPr lang="en-IN" sz="1600" i="1" dirty="0">
                <a:solidFill>
                  <a:srgbClr val="FF0000"/>
                </a:solidFill>
              </a:rPr>
              <a:t>Available at SSRN 5332883</a:t>
            </a:r>
            <a:r>
              <a:rPr lang="en-IN" sz="16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[9] Qadir, A., Mahum, R., El-</a:t>
            </a:r>
            <a:r>
              <a:rPr lang="en-IN" sz="1600" dirty="0" err="1">
                <a:solidFill>
                  <a:srgbClr val="FF0000"/>
                </a:solidFill>
              </a:rPr>
              <a:t>Meligy</a:t>
            </a:r>
            <a:r>
              <a:rPr lang="en-IN" sz="1600" dirty="0">
                <a:solidFill>
                  <a:srgbClr val="FF0000"/>
                </a:solidFill>
              </a:rPr>
              <a:t>, M. A., Ragab, A. E., AlSalman, A., &amp; Awais, M. (2024). An efficient deepfake video detection using robust deep learning. </a:t>
            </a:r>
            <a:r>
              <a:rPr lang="en-IN" sz="1600" dirty="0" err="1">
                <a:solidFill>
                  <a:srgbClr val="FF0000"/>
                </a:solidFill>
              </a:rPr>
              <a:t>Heliyon</a:t>
            </a:r>
            <a:r>
              <a:rPr lang="en-IN" sz="1600" dirty="0">
                <a:solidFill>
                  <a:srgbClr val="FF0000"/>
                </a:solidFill>
              </a:rPr>
              <a:t>, 10(5).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[10] Hong, Y., &amp; Zhang, J. </a:t>
            </a:r>
            <a:r>
              <a:rPr lang="en-IN" sz="1600" dirty="0" err="1">
                <a:solidFill>
                  <a:srgbClr val="FF0000"/>
                </a:solidFill>
              </a:rPr>
              <a:t>Wildfake</a:t>
            </a:r>
            <a:r>
              <a:rPr lang="en-IN" sz="1600" dirty="0">
                <a:solidFill>
                  <a:srgbClr val="FF0000"/>
                </a:solidFill>
              </a:rPr>
              <a:t>: A large-scale challenging dataset for ai-generated images detection. </a:t>
            </a:r>
            <a:r>
              <a:rPr lang="en-IN" sz="1600" dirty="0" err="1">
                <a:solidFill>
                  <a:srgbClr val="FF0000"/>
                </a:solidFill>
              </a:rPr>
              <a:t>arXiv</a:t>
            </a:r>
            <a:r>
              <a:rPr lang="en-IN" sz="1600" dirty="0">
                <a:solidFill>
                  <a:srgbClr val="FF0000"/>
                </a:solidFill>
              </a:rPr>
              <a:t> 2024. </a:t>
            </a:r>
            <a:r>
              <a:rPr lang="en-IN" sz="1600" i="1" dirty="0" err="1">
                <a:solidFill>
                  <a:srgbClr val="FF0000"/>
                </a:solidFill>
              </a:rPr>
              <a:t>arXiv</a:t>
            </a:r>
            <a:r>
              <a:rPr lang="en-IN" sz="1600" i="1" dirty="0">
                <a:solidFill>
                  <a:srgbClr val="FF0000"/>
                </a:solidFill>
              </a:rPr>
              <a:t> preprint arXiv:2402.11843</a:t>
            </a:r>
            <a:r>
              <a:rPr lang="en-IN" sz="16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IN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br>
              <a:rPr lang="en-IN" sz="1600" dirty="0">
                <a:solidFill>
                  <a:srgbClr val="FF0000"/>
                </a:solidFill>
              </a:rPr>
            </a:b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8B776-C2EF-9DC5-3EAA-AA0893B9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02046-8FEC-92E2-08EE-88F8D6B158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573" y="0"/>
            <a:ext cx="1304261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7C7B63-B65B-064C-DB52-E53CC805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</p:spTree>
    <p:extLst>
      <p:ext uri="{BB962C8B-B14F-4D97-AF65-F5344CB8AC3E}">
        <p14:creationId xmlns:p14="http://schemas.microsoft.com/office/powerpoint/2010/main" val="257207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A3AF-7476-406A-DD76-B6916302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3D27-848E-E730-48AE-C21E1D56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BFC2C-1630-C2FE-9489-4E294DFED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43" y="1061696"/>
            <a:ext cx="1167885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[11] </a:t>
            </a:r>
            <a:r>
              <a:rPr lang="en-IN" sz="1600" dirty="0" err="1">
                <a:solidFill>
                  <a:srgbClr val="FF0000"/>
                </a:solidFill>
              </a:rPr>
              <a:t>Ramanaharan</a:t>
            </a:r>
            <a:r>
              <a:rPr lang="en-IN" sz="1600" dirty="0">
                <a:solidFill>
                  <a:srgbClr val="FF0000"/>
                </a:solidFill>
              </a:rPr>
              <a:t>, R., Guruge, D. B., &amp; </a:t>
            </a:r>
            <a:r>
              <a:rPr lang="en-IN" sz="1600" dirty="0" err="1">
                <a:solidFill>
                  <a:srgbClr val="FF0000"/>
                </a:solidFill>
              </a:rPr>
              <a:t>Agbinya</a:t>
            </a:r>
            <a:r>
              <a:rPr lang="en-IN" sz="1600" dirty="0">
                <a:solidFill>
                  <a:srgbClr val="FF0000"/>
                </a:solidFill>
              </a:rPr>
              <a:t>, J. I. (2025). </a:t>
            </a:r>
            <a:r>
              <a:rPr lang="en-IN" sz="1600" dirty="0" err="1">
                <a:solidFill>
                  <a:srgbClr val="FF0000"/>
                </a:solidFill>
              </a:rPr>
              <a:t>DeepFake</a:t>
            </a:r>
            <a:r>
              <a:rPr lang="en-IN" sz="1600" dirty="0">
                <a:solidFill>
                  <a:srgbClr val="FF0000"/>
                </a:solidFill>
              </a:rPr>
              <a:t> video detection: Insights into model generalisation—A Systematic review. Data and Information Management, 100099.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[12] </a:t>
            </a:r>
            <a:r>
              <a:rPr lang="en-IN" sz="1600" dirty="0" err="1">
                <a:solidFill>
                  <a:srgbClr val="FF0000"/>
                </a:solidFill>
              </a:rPr>
              <a:t>Alrashoud</a:t>
            </a:r>
            <a:r>
              <a:rPr lang="en-IN" sz="1600" dirty="0">
                <a:solidFill>
                  <a:srgbClr val="FF0000"/>
                </a:solidFill>
              </a:rPr>
              <a:t>, M. (2025). Deepfake video detection methods, approaches, and challenges. Alexandria Engineering Journal, 125, 265-277.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[13] Soundarya, B. C., Gururaj, H. L., &amp; Naveen Kumar, C. M. (2025). A Framework for Deepfake Detection using Convolutional Neural Network and Deep Features. Procedia Computer Science, 258, 3640-3648.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[14] Sharma, N., </a:t>
            </a:r>
            <a:r>
              <a:rPr lang="en-IN" sz="1600" dirty="0" err="1">
                <a:solidFill>
                  <a:srgbClr val="FF0000"/>
                </a:solidFill>
              </a:rPr>
              <a:t>Mallampalli</a:t>
            </a:r>
            <a:r>
              <a:rPr lang="en-IN" sz="1600" dirty="0">
                <a:solidFill>
                  <a:srgbClr val="FF0000"/>
                </a:solidFill>
              </a:rPr>
              <a:t>, K., &amp; Iyengar, R. S. (2025, August). Forensic Challenges in Face Manipulated Videos. In 2025 International Conference on Multimedia Analysis and Pattern Recognition (MAPR) (pp. 1-6). IEEE.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[15] Soni, N. (2025). Deepfake Detection and Multimedia Forensics: Investigating Synthetic Media, Image Forgery, and Video Manipulation in Cybercrime Cases. ARC Journal of Forensic Science, 9(36-39), 1.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[16] Singh, S., &amp; </a:t>
            </a:r>
            <a:r>
              <a:rPr lang="en-IN" sz="1600" dirty="0" err="1">
                <a:solidFill>
                  <a:srgbClr val="FF0000"/>
                </a:solidFill>
              </a:rPr>
              <a:t>Dhumane</a:t>
            </a:r>
            <a:r>
              <a:rPr lang="en-IN" sz="1600" dirty="0">
                <a:solidFill>
                  <a:srgbClr val="FF0000"/>
                </a:solidFill>
              </a:rPr>
              <a:t>, A. (2025). Unmasking digital deceptions: An integrative review of deepfake detection, multimedia forensics, and cybersecurity challenges. </a:t>
            </a:r>
            <a:r>
              <a:rPr lang="en-IN" sz="1600" dirty="0" err="1">
                <a:solidFill>
                  <a:srgbClr val="FF0000"/>
                </a:solidFill>
              </a:rPr>
              <a:t>MethodsX</a:t>
            </a:r>
            <a:r>
              <a:rPr lang="en-IN" sz="1600" dirty="0">
                <a:solidFill>
                  <a:srgbClr val="FF0000"/>
                </a:solidFill>
              </a:rPr>
              <a:t>, 103632. 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[17] Lin, K., Lin, Y., Li, W., Yao, T., &amp; Li, B. (2025, April). Standing on the shoulders of giants: Reprogramming visual-language model for general deepfake detection. In </a:t>
            </a:r>
            <a:r>
              <a:rPr lang="en-IN" sz="1600" i="1" dirty="0">
                <a:solidFill>
                  <a:srgbClr val="FF0000"/>
                </a:solidFill>
              </a:rPr>
              <a:t>Proceedings of the AAAI Conference on Artificial Intelligence</a:t>
            </a:r>
            <a:r>
              <a:rPr lang="en-IN" sz="1600" dirty="0">
                <a:solidFill>
                  <a:srgbClr val="FF0000"/>
                </a:solidFill>
              </a:rPr>
              <a:t> (Vol. 39, No. 5, pp. 5262-5270).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[18] Gong, R., Chen, J., Zhang, D., </a:t>
            </a:r>
            <a:r>
              <a:rPr lang="en-IN" sz="1600" dirty="0" err="1">
                <a:solidFill>
                  <a:srgbClr val="FF0000"/>
                </a:solidFill>
              </a:rPr>
              <a:t>Sangaiah</a:t>
            </a:r>
            <a:r>
              <a:rPr lang="en-IN" sz="1600" dirty="0">
                <a:solidFill>
                  <a:srgbClr val="FF0000"/>
                </a:solidFill>
              </a:rPr>
              <a:t>, A. K., &amp; </a:t>
            </a:r>
            <a:r>
              <a:rPr lang="en-IN" sz="1600" dirty="0" err="1">
                <a:solidFill>
                  <a:srgbClr val="FF0000"/>
                </a:solidFill>
              </a:rPr>
              <a:t>Alenazi</a:t>
            </a:r>
            <a:r>
              <a:rPr lang="en-IN" sz="1600" dirty="0">
                <a:solidFill>
                  <a:srgbClr val="FF0000"/>
                </a:solidFill>
              </a:rPr>
              <a:t>, M. J. (2025). Face Forgery Detection via Multi‐Scale and Multi‐Domain Features Fusion. </a:t>
            </a:r>
            <a:r>
              <a:rPr lang="en-IN" sz="1600" i="1" dirty="0">
                <a:solidFill>
                  <a:srgbClr val="FF0000"/>
                </a:solidFill>
              </a:rPr>
              <a:t>IET Image Processing</a:t>
            </a:r>
            <a:r>
              <a:rPr lang="en-IN" sz="1600" dirty="0">
                <a:solidFill>
                  <a:srgbClr val="FF0000"/>
                </a:solidFill>
              </a:rPr>
              <a:t>, </a:t>
            </a:r>
            <a:r>
              <a:rPr lang="en-IN" sz="1600" i="1" dirty="0">
                <a:solidFill>
                  <a:srgbClr val="FF0000"/>
                </a:solidFill>
              </a:rPr>
              <a:t>19</a:t>
            </a:r>
            <a:r>
              <a:rPr lang="en-IN" sz="1600" dirty="0">
                <a:solidFill>
                  <a:srgbClr val="FF0000"/>
                </a:solidFill>
              </a:rPr>
              <a:t>(1), e70131.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FF0000"/>
                </a:solidFill>
              </a:rPr>
              <a:t>[19] Bharati, N., Wong, P., </a:t>
            </a:r>
            <a:r>
              <a:rPr lang="en-IN" sz="1600" dirty="0" err="1">
                <a:solidFill>
                  <a:srgbClr val="FF0000"/>
                </a:solidFill>
              </a:rPr>
              <a:t>Mostéfaoui</a:t>
            </a:r>
            <a:r>
              <a:rPr lang="en-IN" sz="1600" dirty="0">
                <a:solidFill>
                  <a:srgbClr val="FF0000"/>
                </a:solidFill>
              </a:rPr>
              <a:t>, S. K., </a:t>
            </a:r>
            <a:r>
              <a:rPr lang="en-IN" sz="1600" dirty="0" err="1">
                <a:solidFill>
                  <a:srgbClr val="FF0000"/>
                </a:solidFill>
              </a:rPr>
              <a:t>Kbaier</a:t>
            </a:r>
            <a:r>
              <a:rPr lang="en-IN" sz="1600" dirty="0">
                <a:solidFill>
                  <a:srgbClr val="FF0000"/>
                </a:solidFill>
              </a:rPr>
              <a:t>, D., &amp; Collie, J. (2025). Explainable Deepfake Detection: A Multi-Model Framework with Human-Interpretable Rationales for legal investigation purposes. Machine Learning with Applications, 1008</a:t>
            </a:r>
          </a:p>
          <a:p>
            <a:pPr marL="0" indent="0">
              <a:buNone/>
            </a:pP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95FCA-9BCC-806E-6B4C-99290F495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F7F4-7DD8-4E66-8958-06920FBD8709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59AF1-8AF2-5417-C1DF-1C398984AE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573" y="0"/>
            <a:ext cx="1304261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E22430-DE45-A0B9-F7EF-FA740EAD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FORENSIC-AI: An Intelligent Deepfake Video and Audio Authentication Toolchain for Digital Evidence</a:t>
            </a:r>
          </a:p>
        </p:txBody>
      </p:sp>
    </p:spTree>
    <p:extLst>
      <p:ext uri="{BB962C8B-B14F-4D97-AF65-F5344CB8AC3E}">
        <p14:creationId xmlns:p14="http://schemas.microsoft.com/office/powerpoint/2010/main" val="146605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3124</Words>
  <Application>Microsoft Office PowerPoint</Application>
  <PresentationFormat>Widescreen</PresentationFormat>
  <Paragraphs>435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NU302 R&amp;D Project  FORENSIC-AI: An Intelligent Deepfake Video Detection for Digital Evidences</vt:lpstr>
      <vt:lpstr>CONTENTS</vt:lpstr>
      <vt:lpstr>INTRODUCTION</vt:lpstr>
      <vt:lpstr>OBJECTIVES</vt:lpstr>
      <vt:lpstr>LITERATURE REVIEW</vt:lpstr>
      <vt:lpstr>METHODOLOGY </vt:lpstr>
      <vt:lpstr>IMPLEMENTATION – PHASE 1</vt:lpstr>
      <vt:lpstr>IMPLEMENTATION – PHASE 2</vt:lpstr>
      <vt:lpstr>RESULTS</vt:lpstr>
      <vt:lpstr>RESULTS</vt:lpstr>
      <vt:lpstr>DISCUSSION </vt:lpstr>
      <vt:lpstr>IMPLICATIONS AND SIGNIFICANCE</vt:lpstr>
      <vt:lpstr>LIMITATIONS AND FUTURE WORK</vt:lpstr>
      <vt:lpstr>CONCLUSION </vt:lpstr>
      <vt:lpstr>PowerPoint Presentation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Tiwari</dc:creator>
  <cp:lastModifiedBy>Navya Syal</cp:lastModifiedBy>
  <cp:revision>26</cp:revision>
  <dcterms:created xsi:type="dcterms:W3CDTF">2025-04-07T08:00:51Z</dcterms:created>
  <dcterms:modified xsi:type="dcterms:W3CDTF">2026-04-20T11:06:19Z</dcterms:modified>
</cp:coreProperties>
</file>